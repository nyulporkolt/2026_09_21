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hu-HU"/>
              <a:t>Mintacím szerkesztése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FEDF7954-FA13-4044-A506-0E0DBA697897}" type="datetimeFigureOut">
              <a:rPr lang="hu-HU" smtClean="0"/>
              <a:t>2026.09.24.</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3872322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u-HU"/>
              <a:t>Mintacím szerkesztése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EDF7954-FA13-4044-A506-0E0DBA697897}" type="datetimeFigureOut">
              <a:rPr lang="hu-HU" smtClean="0"/>
              <a:t>2026.09.24.</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396711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hu-HU"/>
              <a:t>Mintacím szerkesztése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FEDF7954-FA13-4044-A506-0E0DBA697897}" type="datetimeFigureOut">
              <a:rPr lang="hu-HU" smtClean="0"/>
              <a:t>2026.09.24.</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2543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hu-HU"/>
              <a:t>Mintacím szerkesztése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1182156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hu-HU"/>
              <a:t>Mintacím szerkesztése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Content Placeholder 3"/>
          <p:cNvSpPr>
            <a:spLocks noGrp="1"/>
          </p:cNvSpPr>
          <p:nvPr>
            <p:ph sz="quarter" idx="13"/>
          </p:nvPr>
        </p:nvSpPr>
        <p:spPr>
          <a:xfrm>
            <a:off x="913774" y="3051012"/>
            <a:ext cx="5106027" cy="274018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3" name="Content Placeholder 5"/>
          <p:cNvSpPr>
            <a:spLocks noGrp="1"/>
          </p:cNvSpPr>
          <p:nvPr>
            <p:ph sz="quarter" idx="14"/>
          </p:nvPr>
        </p:nvSpPr>
        <p:spPr>
          <a:xfrm>
            <a:off x="6172200" y="3051012"/>
            <a:ext cx="5105401" cy="274018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FEDF7954-FA13-4044-A506-0E0DBA697897}" type="datetimeFigureOut">
              <a:rPr lang="hu-HU" smtClean="0"/>
              <a:t>2026.09.24.</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8398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FEDF7954-FA13-4044-A506-0E0DBA697897}" type="datetimeFigureOut">
              <a:rPr lang="hu-HU" smtClean="0"/>
              <a:t>2026.09.24.</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1749543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FEDF7954-FA13-4044-A506-0E0DBA697897}" type="datetimeFigureOut">
              <a:rPr lang="hu-HU" smtClean="0"/>
              <a:t>2026.09.24.</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578338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hu-HU"/>
              <a:t>Mintacím szerkesztése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4250315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96816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hu-HU"/>
              <a:t>Mintacím szerkesztése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2764837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hu-HU"/>
              <a:t>Mintacím szerkesztése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2065084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hu-HU"/>
              <a:t>Mintacím szerkesztése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12418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hu-HU"/>
              <a:t>Mintacím szerkesztése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FEDF7954-FA13-4044-A506-0E0DBA697897}" type="datetimeFigureOut">
              <a:rPr lang="hu-HU" smtClean="0"/>
              <a:t>2026.09.24.</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178881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hu-HU"/>
              <a:t>Mintacím szerkesztése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FEDF7954-FA13-4044-A506-0E0DBA697897}" type="datetimeFigureOut">
              <a:rPr lang="hu-HU" smtClean="0"/>
              <a:t>2026.09.24.</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2517612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hu-HU"/>
              <a:t>Mintacím szerkesztése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FEDF7954-FA13-4044-A506-0E0DBA697897}" type="datetimeFigureOut">
              <a:rPr lang="hu-HU" smtClean="0"/>
              <a:t>2026.09.24.</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1766830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u-HU"/>
              <a:t>Mintacím szerkesztése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EDF7954-FA13-4044-A506-0E0DBA697897}" type="datetimeFigureOut">
              <a:rPr lang="hu-HU" smtClean="0"/>
              <a:t>2026.09.24.</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966968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hu-HU"/>
              <a:t>Mintacím szerkesztése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EDF7954-FA13-4044-A506-0E0DBA697897}" type="datetimeFigureOut">
              <a:rPr lang="hu-HU" smtClean="0"/>
              <a:t>2026.09.24.</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C37BB44-E00E-4C1F-BA3A-9A3A6C5E05FC}" type="slidenum">
              <a:rPr lang="hu-HU" smtClean="0"/>
              <a:t>‹#›</a:t>
            </a:fld>
            <a:endParaRPr lang="hu-HU"/>
          </a:p>
        </p:txBody>
      </p:sp>
    </p:spTree>
    <p:extLst>
      <p:ext uri="{BB962C8B-B14F-4D97-AF65-F5344CB8AC3E}">
        <p14:creationId xmlns:p14="http://schemas.microsoft.com/office/powerpoint/2010/main" val="4155097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FEDF7954-FA13-4044-A506-0E0DBA697897}" type="datetimeFigureOut">
              <a:rPr lang="hu-HU" smtClean="0"/>
              <a:t>2026.09.24.</a:t>
            </a:fld>
            <a:endParaRPr lang="hu-H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hu-H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C37BB44-E00E-4C1F-BA3A-9A3A6C5E05FC}" type="slidenum">
              <a:rPr lang="hu-HU" smtClean="0"/>
              <a:t>‹#›</a:t>
            </a:fld>
            <a:endParaRPr lang="hu-HU"/>
          </a:p>
        </p:txBody>
      </p:sp>
    </p:spTree>
    <p:extLst>
      <p:ext uri="{BB962C8B-B14F-4D97-AF65-F5344CB8AC3E}">
        <p14:creationId xmlns:p14="http://schemas.microsoft.com/office/powerpoint/2010/main" val="318217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A17598C-8ACD-4D39-9F2A-3FF7989A6482}"/>
              </a:ext>
            </a:extLst>
          </p:cNvPr>
          <p:cNvSpPr>
            <a:spLocks noGrp="1"/>
          </p:cNvSpPr>
          <p:nvPr>
            <p:ph type="ctrTitle"/>
          </p:nvPr>
        </p:nvSpPr>
        <p:spPr/>
        <p:txBody>
          <a:bodyPr/>
          <a:lstStyle/>
          <a:p>
            <a:r>
              <a:rPr lang="hu-HU" dirty="0"/>
              <a:t>Hogyan Alkossunk egy álomcsapatot amiben egy öröm dolgozni</a:t>
            </a:r>
          </a:p>
        </p:txBody>
      </p:sp>
      <p:sp>
        <p:nvSpPr>
          <p:cNvPr id="3" name="Alcím 2">
            <a:extLst>
              <a:ext uri="{FF2B5EF4-FFF2-40B4-BE49-F238E27FC236}">
                <a16:creationId xmlns:a16="http://schemas.microsoft.com/office/drawing/2014/main" id="{7E256A31-7CDC-4C60-851C-D147B87844FF}"/>
              </a:ext>
            </a:extLst>
          </p:cNvPr>
          <p:cNvSpPr>
            <a:spLocks noGrp="1"/>
          </p:cNvSpPr>
          <p:nvPr>
            <p:ph type="subTitle" idx="1"/>
          </p:nvPr>
        </p:nvSpPr>
        <p:spPr/>
        <p:txBody>
          <a:bodyPr/>
          <a:lstStyle/>
          <a:p>
            <a:r>
              <a:rPr lang="hu-HU" dirty="0"/>
              <a:t>Kreálta: László Bence</a:t>
            </a:r>
          </a:p>
        </p:txBody>
      </p:sp>
    </p:spTree>
    <p:extLst>
      <p:ext uri="{BB962C8B-B14F-4D97-AF65-F5344CB8AC3E}">
        <p14:creationId xmlns:p14="http://schemas.microsoft.com/office/powerpoint/2010/main" val="602398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181AEC6-B97D-4DB3-A0A7-6EE77F7B725B}"/>
              </a:ext>
            </a:extLst>
          </p:cNvPr>
          <p:cNvSpPr>
            <a:spLocks noGrp="1"/>
          </p:cNvSpPr>
          <p:nvPr>
            <p:ph type="ctrTitle"/>
          </p:nvPr>
        </p:nvSpPr>
        <p:spPr>
          <a:xfrm>
            <a:off x="0" y="0"/>
            <a:ext cx="10914077" cy="785976"/>
          </a:xfrm>
        </p:spPr>
        <p:txBody>
          <a:bodyPr>
            <a:normAutofit/>
          </a:bodyPr>
          <a:lstStyle/>
          <a:p>
            <a:r>
              <a:rPr lang="hu-HU" dirty="0"/>
              <a:t>1. Lépés a csapatmunka hirdetés</a:t>
            </a:r>
          </a:p>
        </p:txBody>
      </p:sp>
      <p:pic>
        <p:nvPicPr>
          <p:cNvPr id="1026" name="Picture 2" descr="Hírös Hirdető - TÚRKEVE-BALA SZARVASMARHA TELEPRE MŰSZAKVEZETŐT ...">
            <a:extLst>
              <a:ext uri="{FF2B5EF4-FFF2-40B4-BE49-F238E27FC236}">
                <a16:creationId xmlns:a16="http://schemas.microsoft.com/office/drawing/2014/main" id="{9E9AA8BD-628C-428B-8B15-D5CA0EDD5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559" y="2661401"/>
            <a:ext cx="9085277" cy="3987822"/>
          </a:xfrm>
          <a:prstGeom prst="rect">
            <a:avLst/>
          </a:prstGeom>
          <a:noFill/>
          <a:extLst>
            <a:ext uri="{909E8E84-426E-40DD-AFC4-6F175D3DCCD1}">
              <a14:hiddenFill xmlns:a14="http://schemas.microsoft.com/office/drawing/2010/main">
                <a:solidFill>
                  <a:srgbClr val="FFFFFF"/>
                </a:solidFill>
              </a14:hiddenFill>
            </a:ext>
          </a:extLst>
        </p:spPr>
      </p:pic>
      <p:sp>
        <p:nvSpPr>
          <p:cNvPr id="4" name="Szövegdoboz 3">
            <a:extLst>
              <a:ext uri="{FF2B5EF4-FFF2-40B4-BE49-F238E27FC236}">
                <a16:creationId xmlns:a16="http://schemas.microsoft.com/office/drawing/2014/main" id="{E3D0017F-7074-48EE-B805-90CF5B88593A}"/>
              </a:ext>
            </a:extLst>
          </p:cNvPr>
          <p:cNvSpPr txBox="1"/>
          <p:nvPr/>
        </p:nvSpPr>
        <p:spPr>
          <a:xfrm>
            <a:off x="335559" y="1077357"/>
            <a:ext cx="10125512" cy="1200329"/>
          </a:xfrm>
          <a:prstGeom prst="rect">
            <a:avLst/>
          </a:prstGeom>
          <a:noFill/>
        </p:spPr>
        <p:txBody>
          <a:bodyPr wrap="square" rtlCol="0">
            <a:spAutoFit/>
          </a:bodyPr>
          <a:lstStyle/>
          <a:p>
            <a:r>
              <a:rPr lang="hu-HU" sz="2400" dirty="0"/>
              <a:t>A munkát egyértelműen hirdessük, ne legyenek benne félreérthetőségek Legyenek kihirdetve a pozíciók, lehessen tudni milyen típusú munka fog folyni. Ne legyen túl sok, haszontalan pozíció meghirdetve</a:t>
            </a:r>
          </a:p>
        </p:txBody>
      </p:sp>
    </p:spTree>
    <p:extLst>
      <p:ext uri="{BB962C8B-B14F-4D97-AF65-F5344CB8AC3E}">
        <p14:creationId xmlns:p14="http://schemas.microsoft.com/office/powerpoint/2010/main" val="2532836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4382C5F-5BC6-4EB7-AB32-3D9AE26D9255}"/>
              </a:ext>
            </a:extLst>
          </p:cNvPr>
          <p:cNvSpPr>
            <a:spLocks noGrp="1"/>
          </p:cNvSpPr>
          <p:nvPr>
            <p:ph type="ctrTitle"/>
          </p:nvPr>
        </p:nvSpPr>
        <p:spPr>
          <a:xfrm>
            <a:off x="1121837" y="1"/>
            <a:ext cx="10211690" cy="864066"/>
          </a:xfrm>
        </p:spPr>
        <p:txBody>
          <a:bodyPr>
            <a:normAutofit/>
          </a:bodyPr>
          <a:lstStyle/>
          <a:p>
            <a:r>
              <a:rPr lang="hu-HU" dirty="0"/>
              <a:t>2. Lépés csapatagok kiválogatása: </a:t>
            </a:r>
          </a:p>
        </p:txBody>
      </p:sp>
      <p:sp>
        <p:nvSpPr>
          <p:cNvPr id="3" name="Alcím 2">
            <a:extLst>
              <a:ext uri="{FF2B5EF4-FFF2-40B4-BE49-F238E27FC236}">
                <a16:creationId xmlns:a16="http://schemas.microsoft.com/office/drawing/2014/main" id="{711086D7-6791-40C2-994C-E1B8FDE19B12}"/>
              </a:ext>
            </a:extLst>
          </p:cNvPr>
          <p:cNvSpPr>
            <a:spLocks noGrp="1"/>
          </p:cNvSpPr>
          <p:nvPr>
            <p:ph type="subTitle" idx="1"/>
          </p:nvPr>
        </p:nvSpPr>
        <p:spPr>
          <a:xfrm>
            <a:off x="-69305" y="879633"/>
            <a:ext cx="9253697" cy="1371599"/>
          </a:xfrm>
        </p:spPr>
        <p:txBody>
          <a:bodyPr>
            <a:noAutofit/>
          </a:bodyPr>
          <a:lstStyle/>
          <a:p>
            <a:r>
              <a:rPr lang="hu-HU" sz="2400" dirty="0"/>
              <a:t>Ez a folyamat egy alappillére a jó minőségű csapatnak. </a:t>
            </a:r>
            <a:br>
              <a:rPr lang="hu-HU" sz="2400" dirty="0"/>
            </a:br>
            <a:r>
              <a:rPr lang="hu-HU" sz="2400" dirty="0"/>
              <a:t>Alaposan megkell válogatni kit veszünk fel. Kritériumok:</a:t>
            </a:r>
          </a:p>
          <a:p>
            <a:pPr marL="342900" indent="-342900">
              <a:buFontTx/>
              <a:buChar char="-"/>
            </a:pPr>
            <a:r>
              <a:rPr lang="hu-HU" sz="2000" dirty="0"/>
              <a:t>Az adott személy értse az adott témát, ne vegyünk fel szakácsot ha informatikával kapcsolatos a munka</a:t>
            </a:r>
          </a:p>
          <a:p>
            <a:pPr marL="342900" indent="-342900">
              <a:buFontTx/>
              <a:buChar char="-"/>
            </a:pPr>
            <a:endParaRPr lang="hu-HU" sz="2000" dirty="0"/>
          </a:p>
          <a:p>
            <a:pPr marL="342900" indent="-342900">
              <a:buFontTx/>
              <a:buChar char="-"/>
            </a:pPr>
            <a:r>
              <a:rPr lang="hu-HU" sz="2000" dirty="0"/>
              <a:t>A személy legyen kompetens és talpra esett (inkompetens személy csak a bajt hozza)</a:t>
            </a:r>
          </a:p>
          <a:p>
            <a:pPr marL="342900" indent="-342900">
              <a:buFontTx/>
              <a:buChar char="-"/>
            </a:pPr>
            <a:endParaRPr lang="hu-HU" sz="2000" dirty="0"/>
          </a:p>
          <a:p>
            <a:pPr marL="342900" indent="-342900">
              <a:buFontTx/>
              <a:buChar char="-"/>
            </a:pPr>
            <a:r>
              <a:rPr lang="hu-HU" sz="2000" dirty="0"/>
              <a:t>Legyen barátságos, türelmes, csapatmunkát toleráló egyén</a:t>
            </a:r>
            <a:br>
              <a:rPr lang="hu-HU" sz="2000" dirty="0"/>
            </a:br>
            <a:r>
              <a:rPr lang="hu-HU" sz="2000" dirty="0"/>
              <a:t> De ne legyen túlságosan </a:t>
            </a:r>
            <a:r>
              <a:rPr lang="hu-HU" sz="2000" dirty="0" err="1"/>
              <a:t>viccelős</a:t>
            </a:r>
            <a:r>
              <a:rPr lang="hu-HU" sz="2000" dirty="0"/>
              <a:t> személy (vegye komolyan a munkáját)</a:t>
            </a:r>
          </a:p>
          <a:p>
            <a:pPr marL="342900" indent="-342900">
              <a:buFontTx/>
              <a:buChar char="-"/>
            </a:pPr>
            <a:r>
              <a:rPr lang="hu-HU" sz="2000" dirty="0"/>
              <a:t>Legyen az illető legyen szorgalmas, ne csak lopja a napot miközben mindenki más dolgozik, és ne használja ki a többi személyt</a:t>
            </a:r>
          </a:p>
        </p:txBody>
      </p:sp>
      <p:pic>
        <p:nvPicPr>
          <p:cNvPr id="5" name="Kép 4">
            <a:extLst>
              <a:ext uri="{FF2B5EF4-FFF2-40B4-BE49-F238E27FC236}">
                <a16:creationId xmlns:a16="http://schemas.microsoft.com/office/drawing/2014/main" id="{C6E42507-9CF9-4AF0-8205-61645C48A5AE}"/>
              </a:ext>
            </a:extLst>
          </p:cNvPr>
          <p:cNvPicPr>
            <a:picLocks noChangeAspect="1"/>
          </p:cNvPicPr>
          <p:nvPr/>
        </p:nvPicPr>
        <p:blipFill>
          <a:blip r:embed="rId2"/>
          <a:stretch>
            <a:fillRect/>
          </a:stretch>
        </p:blipFill>
        <p:spPr>
          <a:xfrm>
            <a:off x="9145022" y="2992953"/>
            <a:ext cx="1353929" cy="1327381"/>
          </a:xfrm>
          <a:prstGeom prst="rect">
            <a:avLst/>
          </a:prstGeom>
        </p:spPr>
      </p:pic>
      <p:pic>
        <p:nvPicPr>
          <p:cNvPr id="7" name="Kép 6">
            <a:extLst>
              <a:ext uri="{FF2B5EF4-FFF2-40B4-BE49-F238E27FC236}">
                <a16:creationId xmlns:a16="http://schemas.microsoft.com/office/drawing/2014/main" id="{E07E9DFC-6A47-4A76-B6B0-DF458614A0DE}"/>
              </a:ext>
            </a:extLst>
          </p:cNvPr>
          <p:cNvPicPr>
            <a:picLocks noChangeAspect="1"/>
          </p:cNvPicPr>
          <p:nvPr/>
        </p:nvPicPr>
        <p:blipFill>
          <a:blip r:embed="rId3"/>
          <a:stretch>
            <a:fillRect/>
          </a:stretch>
        </p:blipFill>
        <p:spPr>
          <a:xfrm>
            <a:off x="10794223" y="2992955"/>
            <a:ext cx="1257369" cy="1327380"/>
          </a:xfrm>
          <a:prstGeom prst="rect">
            <a:avLst/>
          </a:prstGeom>
        </p:spPr>
      </p:pic>
      <p:cxnSp>
        <p:nvCxnSpPr>
          <p:cNvPr id="10" name="Egyenes összekötő 9">
            <a:extLst>
              <a:ext uri="{FF2B5EF4-FFF2-40B4-BE49-F238E27FC236}">
                <a16:creationId xmlns:a16="http://schemas.microsoft.com/office/drawing/2014/main" id="{41D3F93D-6EFC-4D80-8F98-4844A8D94752}"/>
              </a:ext>
            </a:extLst>
          </p:cNvPr>
          <p:cNvCxnSpPr>
            <a:cxnSpLocks/>
          </p:cNvCxnSpPr>
          <p:nvPr/>
        </p:nvCxnSpPr>
        <p:spPr>
          <a:xfrm>
            <a:off x="9189276" y="3010583"/>
            <a:ext cx="1208015" cy="120801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Egyenes összekötő 10">
            <a:extLst>
              <a:ext uri="{FF2B5EF4-FFF2-40B4-BE49-F238E27FC236}">
                <a16:creationId xmlns:a16="http://schemas.microsoft.com/office/drawing/2014/main" id="{F314D263-6C1A-4AB9-ABE8-A747BEBBB3F8}"/>
              </a:ext>
            </a:extLst>
          </p:cNvPr>
          <p:cNvCxnSpPr>
            <a:cxnSpLocks/>
          </p:cNvCxnSpPr>
          <p:nvPr/>
        </p:nvCxnSpPr>
        <p:spPr>
          <a:xfrm flipV="1">
            <a:off x="9258784" y="3049622"/>
            <a:ext cx="1118398" cy="120801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Egyenes összekötő 13">
            <a:extLst>
              <a:ext uri="{FF2B5EF4-FFF2-40B4-BE49-F238E27FC236}">
                <a16:creationId xmlns:a16="http://schemas.microsoft.com/office/drawing/2014/main" id="{66B296CA-3747-450F-A466-2E141A1AED77}"/>
              </a:ext>
            </a:extLst>
          </p:cNvPr>
          <p:cNvCxnSpPr>
            <a:cxnSpLocks/>
          </p:cNvCxnSpPr>
          <p:nvPr/>
        </p:nvCxnSpPr>
        <p:spPr>
          <a:xfrm flipV="1">
            <a:off x="11268582" y="3207725"/>
            <a:ext cx="522608" cy="81373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Egyenes összekötő 16">
            <a:extLst>
              <a:ext uri="{FF2B5EF4-FFF2-40B4-BE49-F238E27FC236}">
                <a16:creationId xmlns:a16="http://schemas.microsoft.com/office/drawing/2014/main" id="{F4F857B1-3EBA-4842-82C8-C1A50D356994}"/>
              </a:ext>
            </a:extLst>
          </p:cNvPr>
          <p:cNvCxnSpPr>
            <a:cxnSpLocks/>
          </p:cNvCxnSpPr>
          <p:nvPr/>
        </p:nvCxnSpPr>
        <p:spPr>
          <a:xfrm flipH="1" flipV="1">
            <a:off x="11000541" y="3741713"/>
            <a:ext cx="323027" cy="27168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pic>
        <p:nvPicPr>
          <p:cNvPr id="19" name="Kép 18">
            <a:extLst>
              <a:ext uri="{FF2B5EF4-FFF2-40B4-BE49-F238E27FC236}">
                <a16:creationId xmlns:a16="http://schemas.microsoft.com/office/drawing/2014/main" id="{85F54709-A265-49F3-AB29-339548B2E76F}"/>
              </a:ext>
            </a:extLst>
          </p:cNvPr>
          <p:cNvPicPr>
            <a:picLocks noChangeAspect="1"/>
          </p:cNvPicPr>
          <p:nvPr/>
        </p:nvPicPr>
        <p:blipFill>
          <a:blip r:embed="rId3"/>
          <a:stretch>
            <a:fillRect/>
          </a:stretch>
        </p:blipFill>
        <p:spPr>
          <a:xfrm>
            <a:off x="10873476" y="1544089"/>
            <a:ext cx="1257369" cy="1327379"/>
          </a:xfrm>
          <a:prstGeom prst="rect">
            <a:avLst/>
          </a:prstGeom>
        </p:spPr>
      </p:pic>
      <p:pic>
        <p:nvPicPr>
          <p:cNvPr id="21" name="Kép 20">
            <a:extLst>
              <a:ext uri="{FF2B5EF4-FFF2-40B4-BE49-F238E27FC236}">
                <a16:creationId xmlns:a16="http://schemas.microsoft.com/office/drawing/2014/main" id="{DD367262-652A-4ADC-B86C-72BDE84FAF5E}"/>
              </a:ext>
            </a:extLst>
          </p:cNvPr>
          <p:cNvPicPr>
            <a:picLocks noChangeAspect="1"/>
          </p:cNvPicPr>
          <p:nvPr/>
        </p:nvPicPr>
        <p:blipFill>
          <a:blip r:embed="rId4"/>
          <a:stretch>
            <a:fillRect/>
          </a:stretch>
        </p:blipFill>
        <p:spPr>
          <a:xfrm>
            <a:off x="9169166" y="1544089"/>
            <a:ext cx="1208016" cy="1327380"/>
          </a:xfrm>
          <a:prstGeom prst="rect">
            <a:avLst/>
          </a:prstGeom>
        </p:spPr>
      </p:pic>
      <p:cxnSp>
        <p:nvCxnSpPr>
          <p:cNvPr id="22" name="Egyenes összekötő 21">
            <a:extLst>
              <a:ext uri="{FF2B5EF4-FFF2-40B4-BE49-F238E27FC236}">
                <a16:creationId xmlns:a16="http://schemas.microsoft.com/office/drawing/2014/main" id="{3D207F20-0BB2-4F3C-A6D3-6C060EE9F80B}"/>
              </a:ext>
            </a:extLst>
          </p:cNvPr>
          <p:cNvCxnSpPr>
            <a:cxnSpLocks/>
          </p:cNvCxnSpPr>
          <p:nvPr/>
        </p:nvCxnSpPr>
        <p:spPr>
          <a:xfrm flipV="1">
            <a:off x="11502161" y="1721262"/>
            <a:ext cx="522608" cy="81373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Egyenes összekötő 22">
            <a:extLst>
              <a:ext uri="{FF2B5EF4-FFF2-40B4-BE49-F238E27FC236}">
                <a16:creationId xmlns:a16="http://schemas.microsoft.com/office/drawing/2014/main" id="{CBF6AA97-EA66-477F-A5CD-33BBE6CF8D5D}"/>
              </a:ext>
            </a:extLst>
          </p:cNvPr>
          <p:cNvCxnSpPr>
            <a:cxnSpLocks/>
          </p:cNvCxnSpPr>
          <p:nvPr/>
        </p:nvCxnSpPr>
        <p:spPr>
          <a:xfrm flipH="1" flipV="1">
            <a:off x="11210808" y="2256756"/>
            <a:ext cx="323027" cy="27168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5" name="Egyenes összekötő 24">
            <a:extLst>
              <a:ext uri="{FF2B5EF4-FFF2-40B4-BE49-F238E27FC236}">
                <a16:creationId xmlns:a16="http://schemas.microsoft.com/office/drawing/2014/main" id="{D4B77D9E-C56A-45B2-B128-8AAF0074DE69}"/>
              </a:ext>
            </a:extLst>
          </p:cNvPr>
          <p:cNvCxnSpPr/>
          <p:nvPr/>
        </p:nvCxnSpPr>
        <p:spPr>
          <a:xfrm>
            <a:off x="9169068" y="1643182"/>
            <a:ext cx="1208015" cy="120801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Egyenes összekötő 25">
            <a:extLst>
              <a:ext uri="{FF2B5EF4-FFF2-40B4-BE49-F238E27FC236}">
                <a16:creationId xmlns:a16="http://schemas.microsoft.com/office/drawing/2014/main" id="{8F938C55-9F30-4DDA-B615-C615D19650D8}"/>
              </a:ext>
            </a:extLst>
          </p:cNvPr>
          <p:cNvCxnSpPr>
            <a:cxnSpLocks/>
          </p:cNvCxnSpPr>
          <p:nvPr/>
        </p:nvCxnSpPr>
        <p:spPr>
          <a:xfrm flipV="1">
            <a:off x="9221588" y="1643182"/>
            <a:ext cx="1118398" cy="120801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pic>
        <p:nvPicPr>
          <p:cNvPr id="28" name="Kép 27">
            <a:extLst>
              <a:ext uri="{FF2B5EF4-FFF2-40B4-BE49-F238E27FC236}">
                <a16:creationId xmlns:a16="http://schemas.microsoft.com/office/drawing/2014/main" id="{862E261B-90FA-4F81-B25B-BAF93503A061}"/>
              </a:ext>
            </a:extLst>
          </p:cNvPr>
          <p:cNvPicPr>
            <a:picLocks noChangeAspect="1"/>
          </p:cNvPicPr>
          <p:nvPr/>
        </p:nvPicPr>
        <p:blipFill>
          <a:blip r:embed="rId5"/>
          <a:stretch>
            <a:fillRect/>
          </a:stretch>
        </p:blipFill>
        <p:spPr>
          <a:xfrm>
            <a:off x="9227054" y="4356792"/>
            <a:ext cx="1287886" cy="1256733"/>
          </a:xfrm>
          <a:prstGeom prst="rect">
            <a:avLst/>
          </a:prstGeom>
        </p:spPr>
      </p:pic>
      <p:pic>
        <p:nvPicPr>
          <p:cNvPr id="33" name="Kép 32">
            <a:extLst>
              <a:ext uri="{FF2B5EF4-FFF2-40B4-BE49-F238E27FC236}">
                <a16:creationId xmlns:a16="http://schemas.microsoft.com/office/drawing/2014/main" id="{45FEF76A-62F1-4AD5-8B6A-A188DEFF007B}"/>
              </a:ext>
            </a:extLst>
          </p:cNvPr>
          <p:cNvPicPr>
            <a:picLocks noChangeAspect="1"/>
          </p:cNvPicPr>
          <p:nvPr/>
        </p:nvPicPr>
        <p:blipFill>
          <a:blip r:embed="rId3"/>
          <a:stretch>
            <a:fillRect/>
          </a:stretch>
        </p:blipFill>
        <p:spPr>
          <a:xfrm>
            <a:off x="10816882" y="4356792"/>
            <a:ext cx="1257369" cy="1327380"/>
          </a:xfrm>
          <a:prstGeom prst="rect">
            <a:avLst/>
          </a:prstGeom>
        </p:spPr>
      </p:pic>
      <p:cxnSp>
        <p:nvCxnSpPr>
          <p:cNvPr id="34" name="Egyenes összekötő 33">
            <a:extLst>
              <a:ext uri="{FF2B5EF4-FFF2-40B4-BE49-F238E27FC236}">
                <a16:creationId xmlns:a16="http://schemas.microsoft.com/office/drawing/2014/main" id="{3C231E7F-0CB9-4EA5-97FA-C4C01B8FF621}"/>
              </a:ext>
            </a:extLst>
          </p:cNvPr>
          <p:cNvCxnSpPr>
            <a:cxnSpLocks/>
          </p:cNvCxnSpPr>
          <p:nvPr/>
        </p:nvCxnSpPr>
        <p:spPr>
          <a:xfrm flipV="1">
            <a:off x="9308177" y="4458527"/>
            <a:ext cx="1118398" cy="120801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Egyenes összekötő 34">
            <a:extLst>
              <a:ext uri="{FF2B5EF4-FFF2-40B4-BE49-F238E27FC236}">
                <a16:creationId xmlns:a16="http://schemas.microsoft.com/office/drawing/2014/main" id="{AC259A37-A8EE-4237-B18F-A9BF7D999839}"/>
              </a:ext>
            </a:extLst>
          </p:cNvPr>
          <p:cNvCxnSpPr>
            <a:cxnSpLocks/>
          </p:cNvCxnSpPr>
          <p:nvPr/>
        </p:nvCxnSpPr>
        <p:spPr>
          <a:xfrm>
            <a:off x="9263369" y="4458528"/>
            <a:ext cx="1208015" cy="120801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Egyenes összekötő 35">
            <a:extLst>
              <a:ext uri="{FF2B5EF4-FFF2-40B4-BE49-F238E27FC236}">
                <a16:creationId xmlns:a16="http://schemas.microsoft.com/office/drawing/2014/main" id="{4229D462-FA29-4D17-918D-ECF7832A3579}"/>
              </a:ext>
            </a:extLst>
          </p:cNvPr>
          <p:cNvCxnSpPr>
            <a:cxnSpLocks/>
          </p:cNvCxnSpPr>
          <p:nvPr/>
        </p:nvCxnSpPr>
        <p:spPr>
          <a:xfrm flipV="1">
            <a:off x="11337364" y="4555443"/>
            <a:ext cx="522608" cy="81373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7" name="Egyenes összekötő 36">
            <a:extLst>
              <a:ext uri="{FF2B5EF4-FFF2-40B4-BE49-F238E27FC236}">
                <a16:creationId xmlns:a16="http://schemas.microsoft.com/office/drawing/2014/main" id="{B8002283-9FF2-4575-B525-6ABC8F8281AE}"/>
              </a:ext>
            </a:extLst>
          </p:cNvPr>
          <p:cNvCxnSpPr>
            <a:cxnSpLocks/>
          </p:cNvCxnSpPr>
          <p:nvPr/>
        </p:nvCxnSpPr>
        <p:spPr>
          <a:xfrm flipH="1" flipV="1">
            <a:off x="11052217" y="5097493"/>
            <a:ext cx="323027" cy="27168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pic>
        <p:nvPicPr>
          <p:cNvPr id="39" name="Kép 38">
            <a:extLst>
              <a:ext uri="{FF2B5EF4-FFF2-40B4-BE49-F238E27FC236}">
                <a16:creationId xmlns:a16="http://schemas.microsoft.com/office/drawing/2014/main" id="{EABBA685-5DFC-430E-A593-FB3D23CC149C}"/>
              </a:ext>
            </a:extLst>
          </p:cNvPr>
          <p:cNvPicPr>
            <a:picLocks noChangeAspect="1"/>
          </p:cNvPicPr>
          <p:nvPr/>
        </p:nvPicPr>
        <p:blipFill>
          <a:blip r:embed="rId6"/>
          <a:stretch>
            <a:fillRect/>
          </a:stretch>
        </p:blipFill>
        <p:spPr>
          <a:xfrm>
            <a:off x="9189276" y="5688890"/>
            <a:ext cx="1118398" cy="1063909"/>
          </a:xfrm>
          <a:prstGeom prst="rect">
            <a:avLst/>
          </a:prstGeom>
        </p:spPr>
      </p:pic>
      <p:pic>
        <p:nvPicPr>
          <p:cNvPr id="40" name="Kép 39">
            <a:extLst>
              <a:ext uri="{FF2B5EF4-FFF2-40B4-BE49-F238E27FC236}">
                <a16:creationId xmlns:a16="http://schemas.microsoft.com/office/drawing/2014/main" id="{4B859BFA-5133-429D-9B84-9F1DCB51A551}"/>
              </a:ext>
            </a:extLst>
          </p:cNvPr>
          <p:cNvPicPr>
            <a:picLocks noChangeAspect="1"/>
          </p:cNvPicPr>
          <p:nvPr/>
        </p:nvPicPr>
        <p:blipFill>
          <a:blip r:embed="rId3"/>
          <a:stretch>
            <a:fillRect/>
          </a:stretch>
        </p:blipFill>
        <p:spPr>
          <a:xfrm>
            <a:off x="10776666" y="5684172"/>
            <a:ext cx="983832" cy="1038612"/>
          </a:xfrm>
          <a:prstGeom prst="rect">
            <a:avLst/>
          </a:prstGeom>
        </p:spPr>
      </p:pic>
      <p:cxnSp>
        <p:nvCxnSpPr>
          <p:cNvPr id="41" name="Egyenes összekötő 40">
            <a:extLst>
              <a:ext uri="{FF2B5EF4-FFF2-40B4-BE49-F238E27FC236}">
                <a16:creationId xmlns:a16="http://schemas.microsoft.com/office/drawing/2014/main" id="{C223E3D5-89FE-4CE4-B008-278EC80F3DEC}"/>
              </a:ext>
            </a:extLst>
          </p:cNvPr>
          <p:cNvCxnSpPr>
            <a:cxnSpLocks/>
          </p:cNvCxnSpPr>
          <p:nvPr/>
        </p:nvCxnSpPr>
        <p:spPr>
          <a:xfrm flipV="1">
            <a:off x="11161603" y="5725792"/>
            <a:ext cx="522608" cy="81373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2" name="Egyenes összekötő 41">
            <a:extLst>
              <a:ext uri="{FF2B5EF4-FFF2-40B4-BE49-F238E27FC236}">
                <a16:creationId xmlns:a16="http://schemas.microsoft.com/office/drawing/2014/main" id="{5FD1A216-B2DF-4271-8E57-C996F8087E91}"/>
              </a:ext>
            </a:extLst>
          </p:cNvPr>
          <p:cNvCxnSpPr>
            <a:cxnSpLocks/>
          </p:cNvCxnSpPr>
          <p:nvPr/>
        </p:nvCxnSpPr>
        <p:spPr>
          <a:xfrm flipH="1" flipV="1">
            <a:off x="10889742" y="6285636"/>
            <a:ext cx="323027" cy="27168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3" name="Egyenes összekötő 42">
            <a:extLst>
              <a:ext uri="{FF2B5EF4-FFF2-40B4-BE49-F238E27FC236}">
                <a16:creationId xmlns:a16="http://schemas.microsoft.com/office/drawing/2014/main" id="{2990BA14-7A80-424E-863E-9D5CB8DD3B04}"/>
              </a:ext>
            </a:extLst>
          </p:cNvPr>
          <p:cNvCxnSpPr>
            <a:cxnSpLocks/>
          </p:cNvCxnSpPr>
          <p:nvPr/>
        </p:nvCxnSpPr>
        <p:spPr>
          <a:xfrm>
            <a:off x="9185000" y="5711910"/>
            <a:ext cx="1014604" cy="1010874"/>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Egyenes összekötő 44">
            <a:extLst>
              <a:ext uri="{FF2B5EF4-FFF2-40B4-BE49-F238E27FC236}">
                <a16:creationId xmlns:a16="http://schemas.microsoft.com/office/drawing/2014/main" id="{9F8CB4D3-FB14-47AA-9446-0279CD9B62FA}"/>
              </a:ext>
            </a:extLst>
          </p:cNvPr>
          <p:cNvCxnSpPr>
            <a:cxnSpLocks/>
          </p:cNvCxnSpPr>
          <p:nvPr/>
        </p:nvCxnSpPr>
        <p:spPr>
          <a:xfrm flipV="1">
            <a:off x="9224558" y="5649983"/>
            <a:ext cx="1118398" cy="120801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209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D690C6A-3241-4250-8F32-C93BBD0BBEB0}"/>
              </a:ext>
            </a:extLst>
          </p:cNvPr>
          <p:cNvSpPr>
            <a:spLocks noGrp="1"/>
          </p:cNvSpPr>
          <p:nvPr>
            <p:ph type="ctrTitle"/>
          </p:nvPr>
        </p:nvSpPr>
        <p:spPr>
          <a:xfrm>
            <a:off x="1667122" y="0"/>
            <a:ext cx="8689976" cy="932574"/>
          </a:xfrm>
        </p:spPr>
        <p:txBody>
          <a:bodyPr/>
          <a:lstStyle/>
          <a:p>
            <a:r>
              <a:rPr lang="hu-HU" dirty="0"/>
              <a:t>3. Lépés feladatok kiosztása:</a:t>
            </a:r>
          </a:p>
        </p:txBody>
      </p:sp>
      <p:sp>
        <p:nvSpPr>
          <p:cNvPr id="3" name="Alcím 2">
            <a:extLst>
              <a:ext uri="{FF2B5EF4-FFF2-40B4-BE49-F238E27FC236}">
                <a16:creationId xmlns:a16="http://schemas.microsoft.com/office/drawing/2014/main" id="{4EE28343-5121-48AD-93BF-DA1BB4FE7C5E}"/>
              </a:ext>
            </a:extLst>
          </p:cNvPr>
          <p:cNvSpPr>
            <a:spLocks noGrp="1"/>
          </p:cNvSpPr>
          <p:nvPr>
            <p:ph type="subTitle" idx="1"/>
          </p:nvPr>
        </p:nvSpPr>
        <p:spPr>
          <a:xfrm>
            <a:off x="1910402" y="1570839"/>
            <a:ext cx="8689976" cy="1371599"/>
          </a:xfrm>
        </p:spPr>
        <p:txBody>
          <a:bodyPr>
            <a:normAutofit fontScale="85000" lnSpcReduction="20000"/>
          </a:bodyPr>
          <a:lstStyle/>
          <a:p>
            <a:r>
              <a:rPr lang="hu-HU" sz="2400" dirty="0"/>
              <a:t>A felvett egyénekből válasszuk ki hogy ki mely feladatokat fogja belátni. Érdemes az adott személyhez illő feladatot kiosztani például egy határozottabb, hozzáértő embernek egy magasabb pozíciót adjuk. Alaposan nézzük át ki melyik feladatot érdemli.</a:t>
            </a:r>
          </a:p>
        </p:txBody>
      </p:sp>
      <p:pic>
        <p:nvPicPr>
          <p:cNvPr id="2050" name="Picture 2" descr="Szegedi Katalin: Tornasor">
            <a:extLst>
              <a:ext uri="{FF2B5EF4-FFF2-40B4-BE49-F238E27FC236}">
                <a16:creationId xmlns:a16="http://schemas.microsoft.com/office/drawing/2014/main" id="{BE964B9B-322D-4D80-A99E-582271230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034" y="3036984"/>
            <a:ext cx="4966195" cy="288184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9 munkahelyi szerep - ki vagy te a csapatban? - Karrier Trend">
            <a:extLst>
              <a:ext uri="{FF2B5EF4-FFF2-40B4-BE49-F238E27FC236}">
                <a16:creationId xmlns:a16="http://schemas.microsoft.com/office/drawing/2014/main" id="{E4F92856-9260-4C13-9F52-763B335CC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773" y="3160553"/>
            <a:ext cx="4415699" cy="2942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242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D30D0D8-DB3F-4D23-AB06-CB8B77CA671C}"/>
              </a:ext>
            </a:extLst>
          </p:cNvPr>
          <p:cNvSpPr>
            <a:spLocks noGrp="1"/>
          </p:cNvSpPr>
          <p:nvPr>
            <p:ph type="ctrTitle"/>
          </p:nvPr>
        </p:nvSpPr>
        <p:spPr>
          <a:xfrm>
            <a:off x="327425" y="-33065"/>
            <a:ext cx="11537150" cy="1371599"/>
          </a:xfrm>
        </p:spPr>
        <p:txBody>
          <a:bodyPr>
            <a:normAutofit fontScale="90000"/>
          </a:bodyPr>
          <a:lstStyle/>
          <a:p>
            <a:r>
              <a:rPr lang="hu-HU" dirty="0"/>
              <a:t>4. A munka összesítőnapló, dokumentum készítése</a:t>
            </a:r>
          </a:p>
        </p:txBody>
      </p:sp>
      <p:sp>
        <p:nvSpPr>
          <p:cNvPr id="3" name="Alcím 2">
            <a:extLst>
              <a:ext uri="{FF2B5EF4-FFF2-40B4-BE49-F238E27FC236}">
                <a16:creationId xmlns:a16="http://schemas.microsoft.com/office/drawing/2014/main" id="{B4F5E146-7BE8-475A-91C9-526FCA9292A2}"/>
              </a:ext>
            </a:extLst>
          </p:cNvPr>
          <p:cNvSpPr>
            <a:spLocks noGrp="1"/>
          </p:cNvSpPr>
          <p:nvPr>
            <p:ph type="subTitle" idx="1"/>
          </p:nvPr>
        </p:nvSpPr>
        <p:spPr>
          <a:xfrm>
            <a:off x="327424" y="1159777"/>
            <a:ext cx="11537149" cy="1371599"/>
          </a:xfrm>
        </p:spPr>
        <p:txBody>
          <a:bodyPr>
            <a:noAutofit/>
          </a:bodyPr>
          <a:lstStyle/>
          <a:p>
            <a:r>
              <a:rPr lang="hu-HU" sz="2400" dirty="0"/>
              <a:t>Érdemes megkérni minden dolgozót hogy dokumentálja a munkafolyamatot, írja le a pozitív illetve negatív dolgokat a munkáról, hiányosságokat, megjegyzéseket, és akár a munkatársak és </a:t>
            </a:r>
            <a:r>
              <a:rPr lang="hu-HU" sz="2400" dirty="0" err="1"/>
              <a:t>sajátmaga</a:t>
            </a:r>
            <a:r>
              <a:rPr lang="hu-HU" sz="2400" dirty="0"/>
              <a:t> teljesítményéről megjegyzések. Ezzel a jövőbeli csapatmunkák esetén ezekből a dokumentumokból lehet fejleszteni a munkakörnyezeten, a formulán csiszolni, hogy a jövőben még jobb legyen a munka.</a:t>
            </a:r>
          </a:p>
        </p:txBody>
      </p:sp>
      <p:pic>
        <p:nvPicPr>
          <p:cNvPr id="3074" name="Picture 2" descr="Dokumentálás a gyakorlatban - Cigány Módszertani és Kutató Központ - CIMOK">
            <a:extLst>
              <a:ext uri="{FF2B5EF4-FFF2-40B4-BE49-F238E27FC236}">
                <a16:creationId xmlns:a16="http://schemas.microsoft.com/office/drawing/2014/main" id="{0CA1EDF0-1F66-47B2-81FA-9DB5CEB9C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301" y="4039044"/>
            <a:ext cx="3598644" cy="239318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szabálytalansági eljárás">
            <a:extLst>
              <a:ext uri="{FF2B5EF4-FFF2-40B4-BE49-F238E27FC236}">
                <a16:creationId xmlns:a16="http://schemas.microsoft.com/office/drawing/2014/main" id="{690BE680-0FA1-4333-9B77-685817E5B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366" y="3988965"/>
            <a:ext cx="3703390" cy="246892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iary With Password : My Diary - Apps on Google Play">
            <a:extLst>
              <a:ext uri="{FF2B5EF4-FFF2-40B4-BE49-F238E27FC236}">
                <a16:creationId xmlns:a16="http://schemas.microsoft.com/office/drawing/2014/main" id="{CF756252-74E2-4290-90E1-3C4C5BDB0D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5599" y="3988965"/>
            <a:ext cx="2869035" cy="2869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27650"/>
      </p:ext>
    </p:extLst>
  </p:cSld>
  <p:clrMapOvr>
    <a:masterClrMapping/>
  </p:clrMapOvr>
</p:sld>
</file>

<file path=ppt/theme/theme1.xml><?xml version="1.0" encoding="utf-8"?>
<a:theme xmlns:a="http://schemas.openxmlformats.org/drawingml/2006/main" name="Cseppecske">
  <a:themeElements>
    <a:clrScheme name="Cseppecske">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Cseppecske">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seppecske">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TM04033925[[fn=Cseppecske]]</Template>
  <TotalTime>60</TotalTime>
  <Words>261</Words>
  <Application>Microsoft Office PowerPoint</Application>
  <PresentationFormat>Szélesvásznú</PresentationFormat>
  <Paragraphs>16</Paragraphs>
  <Slides>5</Slides>
  <Notes>0</Notes>
  <HiddenSlides>0</HiddenSlides>
  <MMClips>0</MMClips>
  <ScaleCrop>false</ScaleCrop>
  <HeadingPairs>
    <vt:vector size="6" baseType="variant">
      <vt:variant>
        <vt:lpstr>Használt betűtípusok</vt:lpstr>
      </vt:variant>
      <vt:variant>
        <vt:i4>2</vt:i4>
      </vt:variant>
      <vt:variant>
        <vt:lpstr>Téma</vt:lpstr>
      </vt:variant>
      <vt:variant>
        <vt:i4>1</vt:i4>
      </vt:variant>
      <vt:variant>
        <vt:lpstr>Diacímek</vt:lpstr>
      </vt:variant>
      <vt:variant>
        <vt:i4>5</vt:i4>
      </vt:variant>
    </vt:vector>
  </HeadingPairs>
  <TitlesOfParts>
    <vt:vector size="8" baseType="lpstr">
      <vt:lpstr>Arial</vt:lpstr>
      <vt:lpstr>Tw Cen MT</vt:lpstr>
      <vt:lpstr>Cseppecske</vt:lpstr>
      <vt:lpstr>Hogyan Alkossunk egy álomcsapatot amiben egy öröm dolgozni</vt:lpstr>
      <vt:lpstr>1. Lépés a csapatmunka hirdetés</vt:lpstr>
      <vt:lpstr>2. Lépés csapatagok kiválogatása: </vt:lpstr>
      <vt:lpstr>3. Lépés feladatok kiosztása:</vt:lpstr>
      <vt:lpstr>4. A munka összesítőnapló, dokumentum készítése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Hogyan Alkossunk egy álomcsapatot amiben egy öröm dolgozni</dc:title>
  <dc:creator>László Bence József</dc:creator>
  <cp:lastModifiedBy>László Bence József</cp:lastModifiedBy>
  <cp:revision>13</cp:revision>
  <dcterms:created xsi:type="dcterms:W3CDTF">2026-09-21T11:55:50Z</dcterms:created>
  <dcterms:modified xsi:type="dcterms:W3CDTF">2026-09-24T08:56:46Z</dcterms:modified>
</cp:coreProperties>
</file>